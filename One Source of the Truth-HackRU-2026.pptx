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1cca288-9407-1179-d854-a30091c7f499}">
          <p14:sldIdLst>
            <p14:sldId id="256"/>
          </p14:sldIdLst>
        </p14:section>
        <p14:section name="Problem" id="{c1b1ec34-6e19-8b6a-7f51-3733397339e7}">
          <p14:sldIdLst>
            <p14:sldId id="257"/>
            <p14:sldId id="258"/>
          </p14:sldIdLst>
        </p14:section>
        <p14:section name="Solution" id="{786c42ae-3ac8-3df6-9a5e-4afa409b7005}">
          <p14:sldIdLst>
            <p14:sldId id="259"/>
            <p14:sldId id="260"/>
          </p14:sldIdLst>
        </p14:section>
        <p14:section name="How it works" id="{041ff093-29fb-80e6-9940-e4601ecfe227}">
          <p14:sldIdLst>
            <p14:sldId id="261"/>
            <p14:sldId id="262"/>
            <p14:sldId id="263"/>
            <p14:sldId id="264"/>
          </p14:sldIdLst>
        </p14:section>
        <p14:section name="Data" id="{230ccb4b-c7b1-326f-ce0f-2f9b8fe9398d}">
          <p14:sldIdLst>
            <p14:sldId id="265"/>
            <p14:sldId id="266"/>
          </p14:sldIdLst>
        </p14:section>
        <p14:section name="Close" id="{1728a9e9-09e2-1713-47c5-ff65dc33b24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trial, five systems, no shared IDs. Concordance harmonises them, answers cross-system questions in plain English, and traces every number back to its source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trial runs on systems that don't agree on identifiers. The cross-system question is the one study managers ask weekly, and it is the one nobody can answer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role model is not cosmetic. It changes navigation, the question catalogue, the columns in every response, and the depth of lineage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stages. The non-obvious one is stage two: the system is built to escalate rather than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key is the point. Almost nothing at a hackathon reports precision against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facility names from ClinicalTrials.gov made the matching genuinely hard. Our invented names were too clean and auto-matched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Lineage and audit are the two properties that make the output defensible rather than merely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number that passed through a language model is a number you cannot audit. That constraint shaped the whole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layering is why we can claim the role filtering is real rather than cosmetic.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synthetic part out loud before a judge asks. The answer key framing turns it into a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the field's literature is itself a signal. Most hackathon projects invent their own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limitations first is more convincing than being caught by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8FE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6345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6"/>
                </a:solidFill>
              </a:rPr>
              <a:t>Concordance · HackRU Fall 2026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tx1"/>
                </a:solidFill>
              </a:rPr>
              <a:t>Concordance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358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8FE7"/>
                </a:solidFill>
              </a:rPr>
              <a:t>One trial. Five systems. No shared IDs.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0273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A8696"/>
                </a:solidFill>
              </a:rPr>
              <a:t>Cross-system answers for clinical trial operations — every number traceable to the source row it came from.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1463040" cy="0"/>
          </a:xfrm>
          <a:prstGeom prst="line">
            <a:avLst/>
          </a:prstGeom>
          <a:noFill/>
          <a:ln w="25400">
            <a:solidFill>
              <a:srgbClr val="4A8F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846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96"/>
                </a:solidFill>
              </a:rPr>
              <a:t>HackRU Fall 2026  ·  Regeneron: Improve Clinical Trials  ·  Starter sheet 40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937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4"/>
                </a:solidFill>
              </a:rPr>
              <a:t>Dhruv Sethi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hospital. Five systems. Five identifiers.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None of them match, so no question can cross all five.</a:t>
            </a:r>
            <a:endParaRPr lang="en-US" sz="1400" dirty="0"/>
          </a:p>
        </p:txBody>
      </p:sp>
      <p:sp>
        <p:nvSpPr>
          <p:cNvPr id="4" name="sys-0"/>
          <p:cNvSpPr/>
          <p:nvPr/>
        </p:nvSpPr>
        <p:spPr>
          <a:xfrm>
            <a:off x="822960" y="1828800"/>
            <a:ext cx="6492240" cy="548640"/>
          </a:xfrm>
          <a:prstGeom prst="roundRect">
            <a:avLst>
              <a:gd name="adj" fmla="val 10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20025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EDC — TRIAL DATABASE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9476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SITE-0701</a:t>
            </a:r>
            <a:endParaRPr lang="en-US" sz="1300" dirty="0"/>
          </a:p>
        </p:txBody>
      </p:sp>
      <p:sp>
        <p:nvSpPr>
          <p:cNvPr id="7" name="sys-1"/>
          <p:cNvSpPr/>
          <p:nvPr/>
        </p:nvSpPr>
        <p:spPr>
          <a:xfrm>
            <a:off x="822960" y="2487168"/>
            <a:ext cx="6492240" cy="548640"/>
          </a:xfrm>
          <a:prstGeom prst="roundRect">
            <a:avLst>
              <a:gd name="adj" fmla="val 10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6609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CTMS — SITE MANAGEMENT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6060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701</a:t>
            </a:r>
            <a:endParaRPr lang="en-US" sz="1300" dirty="0"/>
          </a:p>
        </p:txBody>
      </p:sp>
      <p:sp>
        <p:nvSpPr>
          <p:cNvPr id="10" name="sys-2"/>
          <p:cNvSpPr/>
          <p:nvPr/>
        </p:nvSpPr>
        <p:spPr>
          <a:xfrm>
            <a:off x="822960" y="3145536"/>
            <a:ext cx="6492240" cy="548640"/>
          </a:xfrm>
          <a:prstGeom prst="roundRect">
            <a:avLst>
              <a:gd name="adj" fmla="val 10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3192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IRT — DRUG SUPPLY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2644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S701</a:t>
            </a:r>
            <a:endParaRPr lang="en-US" sz="1300" dirty="0"/>
          </a:p>
        </p:txBody>
      </p:sp>
      <p:sp>
        <p:nvSpPr>
          <p:cNvPr id="13" name="sys-3"/>
          <p:cNvSpPr/>
          <p:nvPr/>
        </p:nvSpPr>
        <p:spPr>
          <a:xfrm>
            <a:off x="822960" y="3803904"/>
            <a:ext cx="6492240" cy="548640"/>
          </a:xfrm>
          <a:prstGeom prst="roundRect">
            <a:avLst>
              <a:gd name="adj" fmla="val 10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977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SAFETY DATABASE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9227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PT_01-701-1015</a:t>
            </a:r>
            <a:endParaRPr lang="en-US" sz="1300" dirty="0"/>
          </a:p>
        </p:txBody>
      </p:sp>
      <p:sp>
        <p:nvSpPr>
          <p:cNvPr id="16" name="sys-4"/>
          <p:cNvSpPr/>
          <p:nvPr/>
        </p:nvSpPr>
        <p:spPr>
          <a:xfrm>
            <a:off x="822960" y="4462272"/>
            <a:ext cx="6492240" cy="548640"/>
          </a:xfrm>
          <a:prstGeom prst="roundRect">
            <a:avLst>
              <a:gd name="adj" fmla="val 10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4636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FINANCE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45811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AHEPA Gen Univ Hosp of Thessal</a:t>
            </a:r>
            <a:endParaRPr lang="en-US" sz="1300" dirty="0"/>
          </a:p>
        </p:txBody>
      </p:sp>
      <p:sp>
        <p:nvSpPr>
          <p:cNvPr id="19" name="panel"/>
          <p:cNvSpPr/>
          <p:nvPr/>
        </p:nvSpPr>
        <p:spPr>
          <a:xfrm>
            <a:off x="7772400" y="1828800"/>
            <a:ext cx="3611880" cy="1865376"/>
          </a:xfrm>
          <a:prstGeom prst="roundRect">
            <a:avLst>
              <a:gd name="adj" fmla="val 2941"/>
            </a:avLst>
          </a:prstGeom>
          <a:solidFill>
            <a:srgbClr val="101419"/>
          </a:solidFill>
          <a:ln w="12700">
            <a:solidFill>
              <a:srgbClr val="4A8F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91856" y="2011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4A8FE7"/>
                </a:solidFill>
              </a:rPr>
              <a:t>THE SAME REAL HOSPITAL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991856" y="2286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"AHEPA" General University Hospital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991856" y="3072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Thessaloniki, Greece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1 of 17 trial sites</a:t>
            </a:r>
            <a:endParaRPr lang="en-US" sz="1100" dirty="0"/>
          </a:p>
        </p:txBody>
      </p:sp>
      <p:sp>
        <p:nvSpPr>
          <p:cNvPr id="23" name="panel"/>
          <p:cNvSpPr/>
          <p:nvPr/>
        </p:nvSpPr>
        <p:spPr>
          <a:xfrm>
            <a:off x="7772400" y="3895344"/>
            <a:ext cx="3611880" cy="1481328"/>
          </a:xfrm>
          <a:prstGeom prst="roundRect">
            <a:avLst>
              <a:gd name="adj" fmla="val 3704"/>
            </a:avLst>
          </a:prstGeom>
          <a:solidFill>
            <a:srgbClr val="101419"/>
          </a:solidFill>
          <a:ln w="12700">
            <a:solidFill>
              <a:srgbClr val="C99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91856" y="4078224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9A3C"/>
                </a:solidFill>
              </a:rPr>
              <a:t>"Which sites have an open safety case AND low drug supply AND overdue payments?"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991856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Three weeks of manual spreadsheet matching — and the answer still isn't traceable.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this is for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Four roles inside clinical development, each needing a different slice of the same data.</a:t>
            </a:r>
            <a:endParaRPr lang="en-US" sz="1400" dirty="0"/>
          </a:p>
        </p:txBody>
      </p:sp>
      <p:sp>
        <p:nvSpPr>
          <p:cNvPr id="4" name="role-0"/>
          <p:cNvSpPr/>
          <p:nvPr/>
        </p:nvSpPr>
        <p:spPr>
          <a:xfrm>
            <a:off x="822960" y="1965960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2514600" cy="45720"/>
          </a:xfrm>
          <a:prstGeom prst="rect">
            <a:avLst/>
          </a:prstGeom>
          <a:solidFill>
            <a:srgbClr val="4A8F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249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Study Manager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688336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Owns trial delivery. Needs the cross-system view: which sites are in trouble, and why.</a:t>
            </a:r>
            <a:endParaRPr lang="en-US" sz="1100" dirty="0"/>
          </a:p>
        </p:txBody>
      </p:sp>
      <p:sp>
        <p:nvSpPr>
          <p:cNvPr id="8" name="role-1"/>
          <p:cNvSpPr/>
          <p:nvPr/>
        </p:nvSpPr>
        <p:spPr>
          <a:xfrm>
            <a:off x="3566160" y="1965960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965960"/>
            <a:ext cx="2514600" cy="45720"/>
          </a:xfrm>
          <a:prstGeom prst="rect">
            <a:avLst/>
          </a:prstGeom>
          <a:solidFill>
            <a:srgbClr val="3FA77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67328" y="2249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Site Monitor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2688336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Oversees site conduct and drug supply. No business seeing financial terms.</a:t>
            </a:r>
            <a:endParaRPr lang="en-US" sz="1100" dirty="0"/>
          </a:p>
        </p:txBody>
      </p:sp>
      <p:sp>
        <p:nvSpPr>
          <p:cNvPr id="12" name="role-2"/>
          <p:cNvSpPr/>
          <p:nvPr/>
        </p:nvSpPr>
        <p:spPr>
          <a:xfrm>
            <a:off x="6309360" y="1965960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965960"/>
            <a:ext cx="2514600" cy="45720"/>
          </a:xfrm>
          <a:prstGeom prst="rect">
            <a:avLst/>
          </a:prstGeom>
          <a:solidFill>
            <a:srgbClr val="C99A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0528" y="2249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Finance Analyst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688336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Tracks site payments. Must not see patient or safety data at all.</a:t>
            </a:r>
            <a:endParaRPr lang="en-US" sz="1100" dirty="0"/>
          </a:p>
        </p:txBody>
      </p:sp>
      <p:sp>
        <p:nvSpPr>
          <p:cNvPr id="16" name="role-3"/>
          <p:cNvSpPr/>
          <p:nvPr/>
        </p:nvSpPr>
        <p:spPr>
          <a:xfrm>
            <a:off x="9052560" y="1965960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965960"/>
            <a:ext cx="2514600" cy="45720"/>
          </a:xfrm>
          <a:prstGeom prst="rect">
            <a:avLst/>
          </a:prstGeom>
          <a:solidFill>
            <a:srgbClr val="AEB8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53728" y="2249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Data Steward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2688336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Owns identity matching and data quality. Sees structure, not patient detail.</a:t>
            </a:r>
            <a:endParaRPr lang="en-US" sz="1100" dirty="0"/>
          </a:p>
        </p:txBody>
      </p:sp>
      <p:sp>
        <p:nvSpPr>
          <p:cNvPr id="20" name="panel"/>
          <p:cNvSpPr/>
          <p:nvPr/>
        </p:nvSpPr>
        <p:spPr>
          <a:xfrm>
            <a:off x="822960" y="4572000"/>
            <a:ext cx="10543032" cy="868680"/>
          </a:xfrm>
          <a:prstGeom prst="roundRect">
            <a:avLst>
              <a:gd name="adj" fmla="val 6316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78992" y="48646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EB8C4"/>
                </a:solidFill>
              </a:rPr>
              <a:t>Role changes four things: which screens exist, which questions can be asked, which columns return, and how far lineage can be traced.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Concordance does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Five disagreeing feeds in. One canonical, auditable view out.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9339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E7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975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Ingest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975104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8C4"/>
                </a:solidFill>
              </a:rPr>
              <a:t>Five system exports, every row stamped with its source file and row number at read time.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10543032" cy="0"/>
          </a:xfrm>
          <a:prstGeom prst="line">
            <a:avLst/>
          </a:prstGeom>
          <a:noFill/>
          <a:ln w="12700">
            <a:solidFill>
              <a:srgbClr val="232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352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E7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16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Harmonise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91693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8C4"/>
                </a:solidFill>
              </a:rPr>
              <a:t>Identifiers resolved deterministically where possible, by fuzzy match where not, by a human where neither is safe.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666744"/>
            <a:ext cx="10543032" cy="0"/>
          </a:xfrm>
          <a:prstGeom prst="line">
            <a:avLst/>
          </a:prstGeom>
          <a:noFill/>
          <a:ln w="12700">
            <a:solidFill>
              <a:srgbClr val="232A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7705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E7"/>
                </a:solidFill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Graph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85876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8C4"/>
                </a:solidFill>
              </a:rPr>
              <a:t>Sites, patients, aliases and one node per source row, so lineage is a single hop.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608576"/>
            <a:ext cx="10543032" cy="0"/>
          </a:xfrm>
          <a:prstGeom prst="line">
            <a:avLst/>
          </a:prstGeom>
          <a:noFill/>
          <a:ln w="12700">
            <a:solidFill>
              <a:srgbClr val="232A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81888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E7"/>
                </a:solidFill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Answer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800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8C4"/>
                </a:solidFill>
              </a:rPr>
              <a:t>Cross-system questions in plain English, with the generated SQL and the source rows both on screen.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Measured, not asserted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 corrupt the feeds deliberately before loading and commit the answer key to the repository.</a:t>
            </a:r>
            <a:endParaRPr lang="en-US" sz="1400" dirty="0"/>
          </a:p>
        </p:txBody>
      </p:sp>
      <p:sp>
        <p:nvSpPr>
          <p:cNvPr id="4" name="panel"/>
          <p:cNvSpPr/>
          <p:nvPr/>
        </p:nvSpPr>
        <p:spPr>
          <a:xfrm>
            <a:off x="822960" y="1920240"/>
            <a:ext cx="2487168" cy="1170432"/>
          </a:xfrm>
          <a:prstGeom prst="roundRect">
            <a:avLst>
              <a:gd name="adj" fmla="val 4688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0312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AUTO-MATCHED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35915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776"/>
                </a:solidFill>
              </a:rPr>
              <a:t>96%</a:t>
            </a:r>
            <a:endParaRPr lang="en-US" sz="3000" dirty="0"/>
          </a:p>
        </p:txBody>
      </p:sp>
      <p:sp>
        <p:nvSpPr>
          <p:cNvPr id="7" name="panel"/>
          <p:cNvSpPr/>
          <p:nvPr/>
        </p:nvSpPr>
        <p:spPr>
          <a:xfrm>
            <a:off x="3520440" y="1920240"/>
            <a:ext cx="2487168" cy="1170432"/>
          </a:xfrm>
          <a:prstGeom prst="roundRect">
            <a:avLst>
              <a:gd name="adj" fmla="val 4688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608" y="210312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ESCALATED TO A HUMAN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721608" y="235915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C"/>
                </a:solidFill>
              </a:rPr>
              <a:t>3</a:t>
            </a:r>
            <a:endParaRPr lang="en-US" sz="3000" dirty="0"/>
          </a:p>
        </p:txBody>
      </p:sp>
      <p:sp>
        <p:nvSpPr>
          <p:cNvPr id="10" name="panel"/>
          <p:cNvSpPr/>
          <p:nvPr/>
        </p:nvSpPr>
        <p:spPr>
          <a:xfrm>
            <a:off x="6217920" y="1920240"/>
            <a:ext cx="2487168" cy="1170432"/>
          </a:xfrm>
          <a:prstGeom prst="roundRect">
            <a:avLst>
              <a:gd name="adj" fmla="val 4688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210312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DEFECTS CAUGHT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35915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776"/>
                </a:solidFill>
              </a:rPr>
              <a:t>11 / 11</a:t>
            </a:r>
            <a:endParaRPr lang="en-US" sz="3000" dirty="0"/>
          </a:p>
        </p:txBody>
      </p:sp>
      <p:sp>
        <p:nvSpPr>
          <p:cNvPr id="13" name="panel"/>
          <p:cNvSpPr/>
          <p:nvPr/>
        </p:nvSpPr>
        <p:spPr>
          <a:xfrm>
            <a:off x="8915400" y="1920240"/>
            <a:ext cx="2450592" cy="1170432"/>
          </a:xfrm>
          <a:prstGeom prst="roundRect">
            <a:avLst>
              <a:gd name="adj" fmla="val 4688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16568" y="210312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FAIR CRITERIA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16568" y="235915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776"/>
                </a:solidFill>
              </a:rPr>
              <a:t>10 / 10</a:t>
            </a:r>
            <a:endParaRPr lang="en-US" sz="3000" dirty="0"/>
          </a:p>
        </p:txBody>
      </p:sp>
      <p:sp>
        <p:nvSpPr>
          <p:cNvPr id="16" name="panel"/>
          <p:cNvSpPr/>
          <p:nvPr/>
        </p:nvSpPr>
        <p:spPr>
          <a:xfrm>
            <a:off x="822960" y="3401568"/>
            <a:ext cx="10543032" cy="2331720"/>
          </a:xfrm>
          <a:prstGeom prst="roundRect">
            <a:avLst>
              <a:gd name="adj" fmla="val 2353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611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DEFECTS PLANTED BEFORE INGEST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968496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Duplicate site records in the CTMS export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Orphan sites recorded in drug supply and nowhere else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Enrollment dates falling after the study end date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Facility names truncated and abbreviated by a short finance field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finance feed that has not refreshed in nine days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9436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A8696"/>
                </a:solidFill>
              </a:rPr>
              <a:t>100% auto-matching would be the weaker result: a matcher that never escalates has not shown it can recognise ambiguity.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Identity resolution, with a human where it matters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wrong site merge silently corrupts every downstream number, and nobody finds out.</a:t>
            </a:r>
            <a:endParaRPr lang="en-US" sz="1400" dirty="0"/>
          </a:p>
        </p:txBody>
      </p:sp>
      <p:sp>
        <p:nvSpPr>
          <p:cNvPr id="4" name="panel"/>
          <p:cNvSpPr/>
          <p:nvPr/>
        </p:nvSpPr>
        <p:spPr>
          <a:xfrm>
            <a:off x="822960" y="192024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3291840" cy="45720"/>
          </a:xfrm>
          <a:prstGeom prst="rect">
            <a:avLst/>
          </a:prstGeom>
          <a:solidFill>
            <a:srgbClr val="3FA77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2416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Automatic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FA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0.95 confidence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87121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8696"/>
                </a:solidFill>
              </a:rPr>
              <a:t>Deterministic ID normalisation and high-confidence name matches. 67 of 70 identifiers.</a:t>
            </a:r>
            <a:endParaRPr lang="en-US" sz="1150" dirty="0"/>
          </a:p>
        </p:txBody>
      </p:sp>
      <p:sp>
        <p:nvSpPr>
          <p:cNvPr id="9" name="panel"/>
          <p:cNvSpPr/>
          <p:nvPr/>
        </p:nvSpPr>
        <p:spPr>
          <a:xfrm>
            <a:off x="4434840" y="192024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920240"/>
            <a:ext cx="3291840" cy="45720"/>
          </a:xfrm>
          <a:prstGeom prst="rect">
            <a:avLst/>
          </a:prstGeom>
          <a:solidFill>
            <a:srgbClr val="C99A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4296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 queue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99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 – 0.95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87121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8696"/>
                </a:solidFill>
              </a:rPr>
              <a:t>Both records side by side with the score. A person decides in seconds. 3 of 70.</a:t>
            </a:r>
            <a:endParaRPr lang="en-US" sz="1150" dirty="0"/>
          </a:p>
        </p:txBody>
      </p:sp>
      <p:sp>
        <p:nvSpPr>
          <p:cNvPr id="14" name="panel"/>
          <p:cNvSpPr/>
          <p:nvPr/>
        </p:nvSpPr>
        <p:spPr>
          <a:xfrm>
            <a:off x="8046720" y="192024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920240"/>
            <a:ext cx="3291840" cy="45720"/>
          </a:xfrm>
          <a:prstGeom prst="rect">
            <a:avLst/>
          </a:prstGeom>
          <a:solidFill>
            <a:srgbClr val="CF5F5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No match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F5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0.60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87121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8696"/>
                </a:solidFill>
              </a:rPr>
              <a:t>Flagged as an orphan and raised on the data health screen.</a:t>
            </a:r>
            <a:endParaRPr lang="en-US" sz="1150" dirty="0"/>
          </a:p>
        </p:txBody>
      </p:sp>
      <p:sp>
        <p:nvSpPr>
          <p:cNvPr id="19" name="panel"/>
          <p:cNvSpPr/>
          <p:nvPr/>
        </p:nvSpPr>
        <p:spPr>
          <a:xfrm>
            <a:off x="822960" y="3977640"/>
            <a:ext cx="10543032" cy="1417320"/>
          </a:xfrm>
          <a:prstGeom prst="roundRect">
            <a:avLst>
              <a:gd name="adj" fmla="val 3871"/>
            </a:avLst>
          </a:prstGeom>
          <a:solidFill>
            <a:srgbClr val="101419"/>
          </a:solidFill>
          <a:ln w="12700">
            <a:solidFill>
              <a:srgbClr val="C99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160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A REAL CASE FROM THE REVIEW QUEUE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462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Finance:  AHEPA Gen Univ Hosp of Thessal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CTMS:  "AHEPA" General University Hospital of Thessaloniki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4498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9A3C"/>
                </a:solidFill>
              </a:rPr>
              <a:t>0.759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4956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7A8696"/>
                </a:solidFill>
              </a:rPr>
              <a:t>confidence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Every number traces back. Every decision is on the record.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Lineage is graph structure, not a separate system. The audit log is append-only.</a:t>
            </a:r>
            <a:endParaRPr lang="en-US" sz="1400" dirty="0"/>
          </a:p>
        </p:txBody>
      </p:sp>
      <p:sp>
        <p:nvSpPr>
          <p:cNvPr id="4" name="panel"/>
          <p:cNvSpPr/>
          <p:nvPr/>
        </p:nvSpPr>
        <p:spPr>
          <a:xfrm>
            <a:off x="822960" y="1920240"/>
            <a:ext cx="5120640" cy="3291840"/>
          </a:xfrm>
          <a:prstGeom prst="roundRect">
            <a:avLst>
              <a:gd name="adj" fmla="val 1667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21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LINEAGE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432304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B8C4"/>
                </a:solidFill>
              </a:rPr>
              <a:t>Every source row becomes a node, stamped with its file and row number at ingest. Entities carry derived_from edges back to the rows that produced them.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295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8F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~2,000 nodes · ~3,500 edges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895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8F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701 assembled from 301 source rows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2611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8F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by 4 identifiers across 4 systems</a:t>
            </a:r>
            <a:endParaRPr lang="en-US" sz="1150" dirty="0"/>
          </a:p>
        </p:txBody>
      </p:sp>
      <p:sp>
        <p:nvSpPr>
          <p:cNvPr id="10" name="panel"/>
          <p:cNvSpPr/>
          <p:nvPr/>
        </p:nvSpPr>
        <p:spPr>
          <a:xfrm>
            <a:off x="6245352" y="1920240"/>
            <a:ext cx="5120640" cy="3291840"/>
          </a:xfrm>
          <a:prstGeom prst="roundRect">
            <a:avLst>
              <a:gd name="adj" fmla="val 1667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2121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696"/>
                </a:solidFill>
              </a:rPr>
              <a:t>AUDIT TRAIL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432304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B8C4"/>
                </a:solidFill>
              </a:rPr>
              <a:t>Every decision records who made it and when. A revert supersedes the original rather than deleting it — in regulated work you cannot erase a record of who decided what.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FA776"/>
                </a:solidFill>
              </a:rPr>
              <a:t>Sana Qureshi (Data Steward)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FA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7A8696"/>
                </a:solidFill>
              </a:rPr>
              <a:t>in effect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4078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Admin (Study Manager)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0" y="4078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7A8696"/>
                </a:solidFill>
              </a:rPr>
              <a:t>superseded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the model belongs — and where it does not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Gemini writes the query. The database returns the numbers. No figure passes through the model.</a:t>
            </a:r>
            <a:endParaRPr lang="en-US" sz="1400" dirty="0"/>
          </a:p>
        </p:txBody>
      </p:sp>
      <p:sp>
        <p:nvSpPr>
          <p:cNvPr id="4" name="panel"/>
          <p:cNvSpPr/>
          <p:nvPr/>
        </p:nvSpPr>
        <p:spPr>
          <a:xfrm>
            <a:off x="822960" y="1965960"/>
            <a:ext cx="2304288" cy="1097280"/>
          </a:xfrm>
          <a:prstGeom prst="roundRect">
            <a:avLst>
              <a:gd name="adj" fmla="val 5000"/>
            </a:avLst>
          </a:prstGeom>
          <a:solidFill>
            <a:srgbClr val="101419"/>
          </a:solidFill>
          <a:ln w="12700">
            <a:solidFill>
              <a:srgbClr val="7A86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7A8696"/>
                </a:solidFill>
              </a:rPr>
              <a:t>Question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42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plain English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63824" y="23591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32A33"/>
                </a:solidFill>
              </a:rPr>
              <a:t>→</a:t>
            </a:r>
            <a:endParaRPr lang="en-US" sz="1700" dirty="0"/>
          </a:p>
        </p:txBody>
      </p:sp>
      <p:sp>
        <p:nvSpPr>
          <p:cNvPr id="8" name="panel"/>
          <p:cNvSpPr/>
          <p:nvPr/>
        </p:nvSpPr>
        <p:spPr>
          <a:xfrm>
            <a:off x="3566160" y="1965960"/>
            <a:ext cx="2304288" cy="1097280"/>
          </a:xfrm>
          <a:prstGeom prst="roundRect">
            <a:avLst>
              <a:gd name="adj" fmla="val 5000"/>
            </a:avLst>
          </a:prstGeom>
          <a:solidFill>
            <a:srgbClr val="101419"/>
          </a:solidFill>
          <a:ln w="12700">
            <a:solidFill>
              <a:srgbClr val="4A8F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67328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8FE7"/>
                </a:solidFill>
              </a:rPr>
              <a:t>Gemini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67328" y="2542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writes SQL only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07024" y="23591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32A33"/>
                </a:solidFill>
              </a:rPr>
              <a:t>→</a:t>
            </a:r>
            <a:endParaRPr lang="en-US" sz="1700" dirty="0"/>
          </a:p>
        </p:txBody>
      </p:sp>
      <p:sp>
        <p:nvSpPr>
          <p:cNvPr id="12" name="panel"/>
          <p:cNvSpPr/>
          <p:nvPr/>
        </p:nvSpPr>
        <p:spPr>
          <a:xfrm>
            <a:off x="6309360" y="1965960"/>
            <a:ext cx="2304288" cy="1097280"/>
          </a:xfrm>
          <a:prstGeom prst="roundRect">
            <a:avLst>
              <a:gd name="adj" fmla="val 5000"/>
            </a:avLst>
          </a:prstGeom>
          <a:solidFill>
            <a:srgbClr val="101419"/>
          </a:solidFill>
          <a:ln w="12700">
            <a:solidFill>
              <a:srgbClr val="3FA77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FA776"/>
                </a:solidFill>
              </a:rPr>
              <a:t>DuckDB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542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returns the numbers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50224" y="23591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32A33"/>
                </a:solidFill>
              </a:rPr>
              <a:t>→</a:t>
            </a:r>
            <a:endParaRPr lang="en-US" sz="1700" dirty="0"/>
          </a:p>
        </p:txBody>
      </p:sp>
      <p:sp>
        <p:nvSpPr>
          <p:cNvPr id="16" name="panel"/>
          <p:cNvSpPr/>
          <p:nvPr/>
        </p:nvSpPr>
        <p:spPr>
          <a:xfrm>
            <a:off x="9052560" y="1965960"/>
            <a:ext cx="2304288" cy="1097280"/>
          </a:xfrm>
          <a:prstGeom prst="roundRect">
            <a:avLst>
              <a:gd name="adj" fmla="val 5000"/>
            </a:avLst>
          </a:prstGeom>
          <a:solidFill>
            <a:srgbClr val="101419"/>
          </a:solidFill>
          <a:ln w="12700">
            <a:solidFill>
              <a:srgbClr val="7A86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3728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7A8696"/>
                </a:solidFill>
              </a:rPr>
              <a:t>Screen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2542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with the SQL shown</a:t>
            </a:r>
            <a:endParaRPr lang="en-US" sz="1100" dirty="0"/>
          </a:p>
        </p:txBody>
      </p:sp>
      <p:sp>
        <p:nvSpPr>
          <p:cNvPr id="19" name="panel"/>
          <p:cNvSpPr/>
          <p:nvPr/>
        </p:nvSpPr>
        <p:spPr>
          <a:xfrm>
            <a:off x="822960" y="333756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101419"/>
          </a:solidFill>
          <a:ln w="12700">
            <a:solidFill>
              <a:srgbClr val="3FA77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FA776"/>
                </a:solidFill>
              </a:rPr>
              <a:t>WHAT IT GETS RIGHT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40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Subqueries against the study average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Computed ratios with divide-by-zero guards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Aggregations, grouping, correlation</a:t>
            </a:r>
            <a:endParaRPr lang="en-US" sz="1300" dirty="0"/>
          </a:p>
        </p:txBody>
      </p:sp>
      <p:sp>
        <p:nvSpPr>
          <p:cNvPr id="22" name="panel"/>
          <p:cNvSpPr/>
          <p:nvPr/>
        </p:nvSpPr>
        <p:spPr>
          <a:xfrm>
            <a:off x="6245352" y="333756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101419"/>
          </a:solidFill>
          <a:ln w="12700">
            <a:solidFill>
              <a:srgbClr val="C99A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19672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C99A3C"/>
                </a:solidFill>
              </a:rPr>
              <a:t>WHAT IT REFUSES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3840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Questions no column can answer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Any column the signed-in role cannot see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Guessing when the request is ambiguous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5778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EB8C4"/>
                </a:solidFill>
              </a:rPr>
              <a:t>The schema Gemini receives is already filtered by role, so it cannot write a query against data the user is not cleared to see.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Access control lives in the service layer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denied column is removed before the response is built, so it never reaches the browser.</a:t>
            </a:r>
            <a:endParaRPr lang="en-US" sz="1400" dirty="0"/>
          </a:p>
        </p:txBody>
      </p:sp>
      <p:sp>
        <p:nvSpPr>
          <p:cNvPr id="4" name="panel"/>
          <p:cNvSpPr/>
          <p:nvPr/>
        </p:nvSpPr>
        <p:spPr>
          <a:xfrm>
            <a:off x="822960" y="1920240"/>
            <a:ext cx="10543032" cy="585216"/>
          </a:xfrm>
          <a:prstGeom prst="roundRect">
            <a:avLst>
              <a:gd name="adj" fmla="val 9375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75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084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EB8C4"/>
                </a:solidFill>
              </a:rPr>
              <a:t>React · Vite · Tailwind. Renders only; never reads the database.</a:t>
            </a:r>
            <a:endParaRPr lang="en-US" sz="1200" dirty="0"/>
          </a:p>
        </p:txBody>
      </p:sp>
      <p:sp>
        <p:nvSpPr>
          <p:cNvPr id="7" name="panel"/>
          <p:cNvSpPr/>
          <p:nvPr/>
        </p:nvSpPr>
        <p:spPr>
          <a:xfrm>
            <a:off x="822960" y="2633472"/>
            <a:ext cx="10543032" cy="585216"/>
          </a:xfrm>
          <a:prstGeom prst="roundRect">
            <a:avLst>
              <a:gd name="adj" fmla="val 9375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788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7980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EB8C4"/>
                </a:solidFill>
              </a:rPr>
              <a:t>FastAPI. Translates HTTP to Python. No rules of its own.</a:t>
            </a:r>
            <a:endParaRPr lang="en-US" sz="1200" dirty="0"/>
          </a:p>
        </p:txBody>
      </p:sp>
      <p:sp>
        <p:nvSpPr>
          <p:cNvPr id="10" name="panel"/>
          <p:cNvSpPr/>
          <p:nvPr/>
        </p:nvSpPr>
        <p:spPr>
          <a:xfrm>
            <a:off x="822960" y="3346704"/>
            <a:ext cx="10543032" cy="585216"/>
          </a:xfrm>
          <a:prstGeom prst="roundRect">
            <a:avLst>
              <a:gd name="adj" fmla="val 9375"/>
            </a:avLst>
          </a:prstGeom>
          <a:solidFill>
            <a:srgbClr val="101419"/>
          </a:solidFill>
          <a:ln w="12700">
            <a:solidFill>
              <a:srgbClr val="4A8F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502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F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services.py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5112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EB8C4"/>
                </a:solidFill>
              </a:rPr>
              <a:t>Business logic and access control. Every function takes a role.</a:t>
            </a:r>
            <a:endParaRPr lang="en-US" sz="1200" dirty="0"/>
          </a:p>
        </p:txBody>
      </p:sp>
      <p:sp>
        <p:nvSpPr>
          <p:cNvPr id="13" name="panel"/>
          <p:cNvSpPr/>
          <p:nvPr/>
        </p:nvSpPr>
        <p:spPr>
          <a:xfrm>
            <a:off x="822960" y="4059936"/>
            <a:ext cx="10543032" cy="585216"/>
          </a:xfrm>
          <a:prstGeom prst="roundRect">
            <a:avLst>
              <a:gd name="adj" fmla="val 9375"/>
            </a:avLst>
          </a:prstGeom>
          <a:solidFill>
            <a:srgbClr val="101419"/>
          </a:solidFill>
          <a:ln w="12700">
            <a:solidFill>
              <a:srgbClr val="3FA7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215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repository.py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2245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EB8C4"/>
                </a:solidFill>
              </a:rPr>
              <a:t>The only module that touches stored data.</a:t>
            </a:r>
            <a:endParaRPr lang="en-US" sz="1200" dirty="0"/>
          </a:p>
        </p:txBody>
      </p:sp>
      <p:sp>
        <p:nvSpPr>
          <p:cNvPr id="16" name="panel"/>
          <p:cNvSpPr/>
          <p:nvPr/>
        </p:nvSpPr>
        <p:spPr>
          <a:xfrm>
            <a:off x="822960" y="4773168"/>
            <a:ext cx="10543032" cy="585216"/>
          </a:xfrm>
          <a:prstGeom prst="roundRect">
            <a:avLst>
              <a:gd name="adj" fmla="val 9375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9286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937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EB8C4"/>
                </a:solidFill>
              </a:rPr>
              <a:t>Raw feeds, harmonised output, knowledge graph, FAIR catalog.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235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A8696"/>
                </a:solidFill>
              </a:rPr>
              <a:t>Storage is isolated behind one module, so moving from files to Postgres is a single file and an environment variable.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Real public data where it exists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Synthetic where no public source publishes it — documented either way.</a:t>
            </a:r>
            <a:endParaRPr lang="en-US" sz="1400" dirty="0"/>
          </a:p>
        </p:txBody>
      </p:sp>
      <p:sp>
        <p:nvSpPr>
          <p:cNvPr id="4" name="panel"/>
          <p:cNvSpPr/>
          <p:nvPr/>
        </p:nvSpPr>
        <p:spPr>
          <a:xfrm>
            <a:off x="822960" y="1920240"/>
            <a:ext cx="10543032" cy="694944"/>
          </a:xfrm>
          <a:prstGeom prst="roundRect">
            <a:avLst>
              <a:gd name="adj" fmla="val 7895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2139696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0A0C10"/>
          </a:solidFill>
          <a:ln w="12700">
            <a:solidFill>
              <a:srgbClr val="3FA7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21762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FA776"/>
                </a:solidFill>
              </a:rPr>
              <a:t>REAL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048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chemeClr val="tx1"/>
                </a:solidFill>
              </a:rPr>
              <a:t>EDC — patients, adverse events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3225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CDISC SDTM/ADaM pilot study CDISCPILOT01 · 306 patients, 1,191 adverse events</a:t>
            </a:r>
            <a:endParaRPr lang="en-US" sz="1100" dirty="0"/>
          </a:p>
        </p:txBody>
      </p:sp>
      <p:sp>
        <p:nvSpPr>
          <p:cNvPr id="9" name="panel"/>
          <p:cNvSpPr/>
          <p:nvPr/>
        </p:nvSpPr>
        <p:spPr>
          <a:xfrm>
            <a:off x="822960" y="2761488"/>
            <a:ext cx="10543032" cy="694944"/>
          </a:xfrm>
          <a:prstGeom prst="roundRect">
            <a:avLst>
              <a:gd name="adj" fmla="val 7895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2980944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0A0C10"/>
          </a:solidFill>
          <a:ln w="12700">
            <a:solidFill>
              <a:srgbClr val="3FA7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30175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FA776"/>
                </a:solidFill>
              </a:rPr>
              <a:t>REAL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889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chemeClr val="tx1"/>
                </a:solidFill>
              </a:rPr>
              <a:t>Facility names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163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ClinicalTrials.gov API v2 · 109 facilities across 47 recruiting studies</a:t>
            </a:r>
            <a:endParaRPr lang="en-US" sz="1100" dirty="0"/>
          </a:p>
        </p:txBody>
      </p:sp>
      <p:sp>
        <p:nvSpPr>
          <p:cNvPr id="14" name="panel"/>
          <p:cNvSpPr/>
          <p:nvPr/>
        </p:nvSpPr>
        <p:spPr>
          <a:xfrm>
            <a:off x="822960" y="3602736"/>
            <a:ext cx="10543032" cy="694944"/>
          </a:xfrm>
          <a:prstGeom prst="roundRect">
            <a:avLst>
              <a:gd name="adj" fmla="val 7895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3822192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0A0C10"/>
          </a:solidFill>
          <a:ln w="12700">
            <a:solidFill>
              <a:srgbClr val="3FA77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0704" y="38587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FA776"/>
                </a:solidFill>
              </a:rPr>
              <a:t>REAL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chemeClr val="tx1"/>
                </a:solidFill>
              </a:rPr>
              <a:t>Adverse event terminology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40050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openFDA FAERS · 80 MedDRA reaction terms by reporting frequency</a:t>
            </a:r>
            <a:endParaRPr lang="en-US" sz="1100" dirty="0"/>
          </a:p>
        </p:txBody>
      </p:sp>
      <p:sp>
        <p:nvSpPr>
          <p:cNvPr id="19" name="panel"/>
          <p:cNvSpPr/>
          <p:nvPr/>
        </p:nvSpPr>
        <p:spPr>
          <a:xfrm>
            <a:off x="822960" y="4443984"/>
            <a:ext cx="10543032" cy="694944"/>
          </a:xfrm>
          <a:prstGeom prst="roundRect">
            <a:avLst>
              <a:gd name="adj" fmla="val 7895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" y="4663440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0A0C10"/>
          </a:solidFill>
          <a:ln w="12700">
            <a:solidFill>
              <a:srgbClr val="7A86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60704" y="47000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A8696"/>
                </a:solidFill>
              </a:rPr>
              <a:t>SYNTHETIC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chemeClr val="tx1"/>
                </a:solidFill>
              </a:rPr>
              <a:t>IRT, finance, operational fields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48463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Derived from the same sites, so a correct answer exists and can be measured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406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8C4"/>
                </a:solidFill>
              </a:rPr>
              <a:t>No individual is identifiable: the clinical data is de-identified and every person name is generated. The identifier divergence is introduced deliberately, because no public dataset publishes that inconsistency — which is exactly why it can be measured against a known answer key.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Built to the field's own standards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 invented conventions — the ones clinical data management already uses.</a:t>
            </a:r>
            <a:endParaRPr lang="en-US" sz="1400" dirty="0"/>
          </a:p>
        </p:txBody>
      </p:sp>
      <p:sp>
        <p:nvSpPr>
          <p:cNvPr id="4" name="panel"/>
          <p:cNvSpPr/>
          <p:nvPr/>
        </p:nvSpPr>
        <p:spPr>
          <a:xfrm>
            <a:off x="822960" y="1920240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" cy="1097280"/>
          </a:xfrm>
          <a:prstGeom prst="rect">
            <a:avLst/>
          </a:prstGeom>
          <a:solidFill>
            <a:srgbClr val="3FA77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075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FA776"/>
                </a:solidFill>
              </a:rPr>
              <a:t>FAIR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8696"/>
                </a:solidFill>
              </a:rPr>
              <a:t>Wilkinson et al. 2016, Scientific Data 3:160018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07568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8C4"/>
                </a:solidFill>
              </a:rPr>
              <a:t>Persistent identifiers, column-level metadata, per-dataset licence and provenance, a searchable catalog. Metadata stays visible where the data itself is restricted.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87552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FA776"/>
                </a:solidFill>
              </a:rPr>
              <a:t>10 / 10 criteria met</a:t>
            </a:r>
            <a:endParaRPr lang="en-US" sz="1150" dirty="0"/>
          </a:p>
        </p:txBody>
      </p:sp>
      <p:sp>
        <p:nvSpPr>
          <p:cNvPr id="10" name="panel"/>
          <p:cNvSpPr/>
          <p:nvPr/>
        </p:nvSpPr>
        <p:spPr>
          <a:xfrm>
            <a:off x="822960" y="3182112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82112"/>
            <a:ext cx="45720" cy="1097280"/>
          </a:xfrm>
          <a:prstGeom prst="rect">
            <a:avLst/>
          </a:prstGeom>
          <a:solidFill>
            <a:srgbClr val="4A8F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4A8FE7"/>
                </a:solidFill>
              </a:rPr>
              <a:t>CDISC SDTM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6393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8696"/>
                </a:solidFill>
              </a:rPr>
              <a:t>Clinical Data Interchange Standards Consortium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3375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8C4"/>
                </a:solidFill>
              </a:rPr>
              <a:t>Clinical feeds map to SDTM domains — DM for demographics, AE for adverse events — rather than ad hoc column names.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4A8FE7"/>
                </a:solidFill>
              </a:rPr>
              <a:t>2 domains mapped</a:t>
            </a:r>
            <a:endParaRPr lang="en-US" sz="1150" dirty="0"/>
          </a:p>
        </p:txBody>
      </p:sp>
      <p:sp>
        <p:nvSpPr>
          <p:cNvPr id="16" name="panel"/>
          <p:cNvSpPr/>
          <p:nvPr/>
        </p:nvSpPr>
        <p:spPr>
          <a:xfrm>
            <a:off x="822960" y="4443984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01419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43984"/>
            <a:ext cx="45720" cy="1097280"/>
          </a:xfrm>
          <a:prstGeom prst="rect">
            <a:avLst/>
          </a:prstGeom>
          <a:solidFill>
            <a:srgbClr val="C99A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99A3C"/>
                </a:solidFill>
              </a:rPr>
              <a:t>OHDSI / OMOP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011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8696"/>
                </a:solidFill>
              </a:rPr>
              <a:t>The Book of OHDSI, chapter 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459943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8C4"/>
                </a:solidFill>
              </a:rPr>
              <a:t>Identity resolution follows the source_to_concept_map pattern and is exposed in that shape, so an OMOP practitioner reads it without translation.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4855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99A3C"/>
                </a:solidFill>
              </a:rPr>
              <a:t>70 mappings exposed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754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What's real, what isn't, and what's next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152144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Stated plainly, because a reviewer will find these anyway.</a:t>
            </a:r>
            <a:endParaRPr lang="en-US" sz="1400" dirty="0"/>
          </a:p>
        </p:txBody>
      </p:sp>
      <p:sp>
        <p:nvSpPr>
          <p:cNvPr id="4" name="panel"/>
          <p:cNvSpPr/>
          <p:nvPr/>
        </p:nvSpPr>
        <p:spPr>
          <a:xfrm>
            <a:off x="822960" y="19202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101419"/>
          </a:solidFill>
          <a:ln w="12700">
            <a:solidFill>
              <a:srgbClr val="C99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C99A3C"/>
                </a:solidFill>
              </a:rPr>
              <a:t>HONEST LIMITATIONS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450592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Authentication is a demo stub; authorization is real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Natural language queries the site-level view only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Operational feeds are synthetic, not live connectors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identifier divergence is introduced by us</a:t>
            </a:r>
            <a:endParaRPr lang="en-US" sz="1300" dirty="0"/>
          </a:p>
        </p:txBody>
      </p:sp>
      <p:sp>
        <p:nvSpPr>
          <p:cNvPr id="7" name="panel"/>
          <p:cNvSpPr/>
          <p:nvPr/>
        </p:nvSpPr>
        <p:spPr>
          <a:xfrm>
            <a:off x="6245352" y="19202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101419"/>
          </a:solidFill>
          <a:ln w="12700">
            <a:solidFill>
              <a:srgbClr val="4A8F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4A8FE7"/>
                </a:solidFill>
              </a:rPr>
              <a:t>NEXT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450592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 connectors in place of synthetic feeds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Signed tokens replacing the auth stub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Patient-level questions through the lineage view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Incremental re-ingest instead of a full rebuild</a:t>
            </a:r>
            <a:endParaRPr lang="en-US" sz="1300" dirty="0"/>
          </a:p>
        </p:txBody>
      </p:sp>
      <p:sp>
        <p:nvSpPr>
          <p:cNvPr id="10" name="panel"/>
          <p:cNvSpPr/>
          <p:nvPr/>
        </p:nvSpPr>
        <p:spPr>
          <a:xfrm>
            <a:off x="822960" y="5120640"/>
            <a:ext cx="10543032" cy="960120"/>
          </a:xfrm>
          <a:prstGeom prst="roundRect">
            <a:avLst>
              <a:gd name="adj" fmla="val 5714"/>
            </a:avLst>
          </a:prstGeom>
          <a:solidFill>
            <a:srgbClr val="101419"/>
          </a:solidFill>
          <a:ln w="12700">
            <a:solidFill>
              <a:srgbClr val="3FA7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5321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Live demo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5321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8F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one-source-of-truth-877947191010.us-east1.run.app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5650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A8696"/>
                </a:solidFill>
              </a:rPr>
              <a:t>Repository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56509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8F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github.com/sethidhruv188/one-source-of-truth-HackRU-2026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5486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EB8C4"/>
                </a:solidFill>
              </a:rPr>
              <a:t>MIT licensed · Runs from a clean clone · Deployed on Cloud Run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ordance">
  <a:themeElements>
    <a:clrScheme name="Concordance">
      <a:dk1>
        <a:srgbClr val="E8ECF1"/>
      </a:dk1>
      <a:lt1>
        <a:srgbClr val="0A0C10"/>
      </a:lt1>
      <a:dk2>
        <a:srgbClr val="7A8696"/>
      </a:dk2>
      <a:lt2>
        <a:srgbClr val="101419"/>
      </a:lt2>
      <a:accent1>
        <a:srgbClr val="4A8FE7"/>
      </a:accent1>
      <a:accent2>
        <a:srgbClr val="3FA776"/>
      </a:accent2>
      <a:accent3>
        <a:srgbClr val="C99A3C"/>
      </a:accent3>
      <a:accent4>
        <a:srgbClr val="CF5F58"/>
      </a:accent4>
      <a:accent5>
        <a:srgbClr val="232A33"/>
      </a:accent5>
      <a:accent6>
        <a:srgbClr val="AEB8C4"/>
      </a:accent6>
      <a:hlink>
        <a:srgbClr val="4A8FE7"/>
      </a:hlink>
      <a:folHlink>
        <a:srgbClr val="7A8696"/>
      </a:folHlink>
    </a:clrScheme>
    <a:fontScheme name="Concordan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Concordance — HackRU Fall 2026</dc:title>
  <dc:subject>PptxGenJS Presentation</dc:subject>
  <dc:creator>Dhruv Sethi</dc:creator>
  <cp:lastModifiedBy>Dhruv Sethi</cp:lastModifiedBy>
  <cp:revision>1</cp:revision>
  <dcterms:created xsi:type="dcterms:W3CDTF">2026-10-11T13:46:13Z</dcterms:created>
  <dcterms:modified xsi:type="dcterms:W3CDTF">2026-10-11T13:46:13Z</dcterms:modified>
</cp:coreProperties>
</file>